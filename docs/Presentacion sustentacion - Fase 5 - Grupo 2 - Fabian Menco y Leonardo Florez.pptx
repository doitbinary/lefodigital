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media/image18.png" ContentType="image/jpeg"/>
  <Override PartName="/ppt/media/image19.png" ContentType="image/jpe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6" r:id="rId5"/>
    <p:sldId id="284" r:id="rId6"/>
    <p:sldId id="285" r:id="rId7"/>
    <p:sldId id="286" r:id="rId8"/>
    <p:sldId id="287" r:id="rId9"/>
    <p:sldId id="288" r:id="rId10"/>
    <p:sldId id="289" r:id="rId11"/>
    <p:sldId id="283" r:id="rId12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Col>
    <a:lastRow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FEFEF"/>
          </a:solidFill>
        </a:fill>
      </a:tcStyle>
    </a:wholeTbl>
    <a:band2H>
      <a:tcTxStyle/>
      <a:tcStyle>
        <a:tcBdr/>
        <a:fill>
          <a:solidFill>
            <a:srgbClr val="F7F7F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BE8CA"/>
          </a:solidFill>
        </a:fill>
      </a:tcStyle>
    </a:wholeTbl>
    <a:band2H>
      <a:tcTxStyle/>
      <a:tcStyle>
        <a:tcBdr/>
        <a:fill>
          <a:solidFill>
            <a:srgbClr val="FDF4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5CBDE"/>
          </a:solidFill>
        </a:fill>
      </a:tcStyle>
    </a:wholeTbl>
    <a:band2H>
      <a:tcTxStyle/>
      <a:tcStyle>
        <a:tcBdr/>
        <a:fill>
          <a:solidFill>
            <a:srgbClr val="EBE7E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7853C-536D-4A76-A0AE-DD22124D55A5}" styleName="Estilo temático 1 - Énfasis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Estilo temático 1 - Énfasis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Estilo temático 1 - Énfasis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Shape 15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0" name="Shape 16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j-lt"/>
        <a:ea typeface="+mj-ea"/>
        <a:cs typeface="+mj-cs"/>
        <a:sym typeface="Arial"/>
      </a:defRPr>
    </a:lvl1pPr>
    <a:lvl2pPr indent="228600" latinLnBrk="0">
      <a:defRPr sz="1400">
        <a:latin typeface="+mj-lt"/>
        <a:ea typeface="+mj-ea"/>
        <a:cs typeface="+mj-cs"/>
        <a:sym typeface="Arial"/>
      </a:defRPr>
    </a:lvl2pPr>
    <a:lvl3pPr indent="457200" latinLnBrk="0">
      <a:defRPr sz="1400">
        <a:latin typeface="+mj-lt"/>
        <a:ea typeface="+mj-ea"/>
        <a:cs typeface="+mj-cs"/>
        <a:sym typeface="Arial"/>
      </a:defRPr>
    </a:lvl3pPr>
    <a:lvl4pPr indent="685800" latinLnBrk="0">
      <a:defRPr sz="1400">
        <a:latin typeface="+mj-lt"/>
        <a:ea typeface="+mj-ea"/>
        <a:cs typeface="+mj-cs"/>
        <a:sym typeface="Arial"/>
      </a:defRPr>
    </a:lvl4pPr>
    <a:lvl5pPr indent="914400" latinLnBrk="0">
      <a:defRPr sz="1400">
        <a:latin typeface="+mj-lt"/>
        <a:ea typeface="+mj-ea"/>
        <a:cs typeface="+mj-cs"/>
        <a:sym typeface="Arial"/>
      </a:defRPr>
    </a:lvl5pPr>
    <a:lvl6pPr indent="1143000" latinLnBrk="0">
      <a:defRPr sz="1400">
        <a:latin typeface="+mj-lt"/>
        <a:ea typeface="+mj-ea"/>
        <a:cs typeface="+mj-cs"/>
        <a:sym typeface="Arial"/>
      </a:defRPr>
    </a:lvl6pPr>
    <a:lvl7pPr indent="1371600" latinLnBrk="0">
      <a:defRPr sz="1400">
        <a:latin typeface="+mj-lt"/>
        <a:ea typeface="+mj-ea"/>
        <a:cs typeface="+mj-cs"/>
        <a:sym typeface="Arial"/>
      </a:defRPr>
    </a:lvl7pPr>
    <a:lvl8pPr indent="1600200" latinLnBrk="0">
      <a:defRPr sz="1400">
        <a:latin typeface="+mj-lt"/>
        <a:ea typeface="+mj-ea"/>
        <a:cs typeface="+mj-cs"/>
        <a:sym typeface="Arial"/>
      </a:defRPr>
    </a:lvl8pPr>
    <a:lvl9pPr indent="1828800" latinLnBrk="0">
      <a:defRPr sz="1400">
        <a:latin typeface="+mj-lt"/>
        <a:ea typeface="+mj-ea"/>
        <a:cs typeface="+mj-cs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0;p23" descr="Google Shape;10;p23"/>
          <p:cNvPicPr>
            <a:picLocks noChangeAspect="1"/>
          </p:cNvPicPr>
          <p:nvPr/>
        </p:nvPicPr>
        <p:blipFill>
          <a:blip r:embed="rId2"/>
          <a:srcRect t="651" b="651"/>
          <a:stretch>
            <a:fillRect/>
          </a:stretch>
        </p:blipFill>
        <p:spPr>
          <a:xfrm>
            <a:off x="-24876" y="0"/>
            <a:ext cx="12352351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6" name="Texto del título"/>
          <p:cNvSpPr txBox="1">
            <a:spLocks noGrp="1"/>
          </p:cNvSpPr>
          <p:nvPr>
            <p:ph type="title"/>
          </p:nvPr>
        </p:nvSpPr>
        <p:spPr>
          <a:xfrm>
            <a:off x="6576148" y="3676420"/>
            <a:ext cx="4183202" cy="1552201"/>
          </a:xfrm>
          <a:prstGeom prst="rect">
            <a:avLst/>
          </a:prstGeom>
        </p:spPr>
        <p:txBody>
          <a:bodyPr anchor="b"/>
          <a:lstStyle>
            <a:lvl1pPr algn="r">
              <a:defRPr sz="3300">
                <a:solidFill>
                  <a:srgbClr val="FFFFFF"/>
                </a:solidFill>
              </a:defRPr>
            </a:lvl1pPr>
          </a:lstStyle>
          <a:p>
            <a:r>
              <a:t>Texto del título</a:t>
            </a:r>
          </a:p>
        </p:txBody>
      </p:sp>
      <p:sp>
        <p:nvSpPr>
          <p:cNvPr id="17" name="Nivel de texto 1…"/>
          <p:cNvSpPr txBox="1">
            <a:spLocks noGrp="1"/>
          </p:cNvSpPr>
          <p:nvPr>
            <p:ph type="body" sz="quarter" idx="1"/>
          </p:nvPr>
        </p:nvSpPr>
        <p:spPr>
          <a:xfrm>
            <a:off x="6353549" y="5259251"/>
            <a:ext cx="4405801" cy="768901"/>
          </a:xfrm>
          <a:prstGeom prst="rect">
            <a:avLst/>
          </a:prstGeom>
        </p:spPr>
        <p:txBody>
          <a:bodyPr anchor="b"/>
          <a:lstStyle>
            <a:lvl1pPr marL="406400" indent="-355600" algn="r">
              <a:buClrTx/>
              <a:buSzTx/>
              <a:buFontTx/>
              <a:buNone/>
              <a:defRPr sz="2200">
                <a:solidFill>
                  <a:srgbClr val="00FFFF"/>
                </a:solidFill>
              </a:defRPr>
            </a:lvl1pPr>
            <a:lvl2pPr marL="406400" indent="127000" algn="r">
              <a:buClrTx/>
              <a:buSzTx/>
              <a:buFontTx/>
              <a:buNone/>
              <a:defRPr sz="2200">
                <a:solidFill>
                  <a:srgbClr val="00FFFF"/>
                </a:solidFill>
              </a:defRPr>
            </a:lvl2pPr>
            <a:lvl3pPr marL="406400" indent="609600" algn="r">
              <a:buClrTx/>
              <a:buSzTx/>
              <a:buFontTx/>
              <a:buNone/>
              <a:defRPr sz="2200">
                <a:solidFill>
                  <a:srgbClr val="00FFFF"/>
                </a:solidFill>
              </a:defRPr>
            </a:lvl3pPr>
            <a:lvl4pPr marL="406400" indent="1079500" algn="r">
              <a:buClrTx/>
              <a:buSzTx/>
              <a:buFontTx/>
              <a:buNone/>
              <a:defRPr sz="2200">
                <a:solidFill>
                  <a:srgbClr val="00FFFF"/>
                </a:solidFill>
              </a:defRPr>
            </a:lvl4pPr>
            <a:lvl5pPr marL="406400" indent="1536700" algn="r">
              <a:buClrTx/>
              <a:buSzTx/>
              <a:buFontTx/>
              <a:buNone/>
              <a:defRPr sz="2200">
                <a:solidFill>
                  <a:srgbClr val="00FFFF"/>
                </a:solidFill>
              </a:defRPr>
            </a:lvl5pPr>
          </a:lstStyle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pic>
        <p:nvPicPr>
          <p:cNvPr id="18" name="Google Shape;13;p23" descr="Google Shape;13;p23"/>
          <p:cNvPicPr>
            <a:picLocks noChangeAspect="1"/>
          </p:cNvPicPr>
          <p:nvPr/>
        </p:nvPicPr>
        <p:blipFill>
          <a:blip r:embed="rId3"/>
          <a:srcRect b="42899"/>
          <a:stretch>
            <a:fillRect/>
          </a:stretch>
        </p:blipFill>
        <p:spPr>
          <a:xfrm rot="16200000">
            <a:off x="8428498" y="2569549"/>
            <a:ext cx="7281327" cy="1634226"/>
          </a:xfrm>
          <a:prstGeom prst="rect">
            <a:avLst/>
          </a:prstGeom>
          <a:ln w="12700">
            <a:miter lim="400000"/>
          </a:ln>
        </p:spPr>
      </p:pic>
      <p:pic>
        <p:nvPicPr>
          <p:cNvPr id="19" name="Google Shape;14;p23" descr="Google Shape;14;p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6148" y="1043351"/>
            <a:ext cx="4183159" cy="721016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ítulo y objeto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Nivel de texto 1…"/>
          <p:cNvSpPr txBox="1">
            <a:spLocks noGrp="1"/>
          </p:cNvSpPr>
          <p:nvPr>
            <p:ph type="body" sz="half" idx="1"/>
          </p:nvPr>
        </p:nvSpPr>
        <p:spPr>
          <a:xfrm>
            <a:off x="3058149" y="2048924"/>
            <a:ext cx="8295601" cy="3751202"/>
          </a:xfrm>
          <a:prstGeom prst="rect">
            <a:avLst/>
          </a:prstGeom>
        </p:spPr>
        <p:txBody>
          <a:bodyPr/>
          <a:lstStyle>
            <a:lvl1pPr indent="-342900"/>
            <a:lvl2pPr marL="971550" indent="-400050"/>
            <a:lvl3pPr marL="1508760" indent="-480060"/>
          </a:lstStyle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28" name="Texto del título"/>
          <p:cNvSpPr txBox="1">
            <a:spLocks noGrp="1"/>
          </p:cNvSpPr>
          <p:nvPr>
            <p:ph type="title"/>
          </p:nvPr>
        </p:nvSpPr>
        <p:spPr>
          <a:xfrm>
            <a:off x="3058152" y="365125"/>
            <a:ext cx="6339900" cy="1294200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accent2"/>
                </a:solidFill>
              </a:defRPr>
            </a:lvl1pPr>
          </a:lstStyle>
          <a:p>
            <a:r>
              <a:t>Texto del título</a:t>
            </a:r>
          </a:p>
        </p:txBody>
      </p:sp>
      <p:pic>
        <p:nvPicPr>
          <p:cNvPr id="29" name="Google Shape;18;p24" descr="Google Shape;18;p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4910683" y="2977016"/>
            <a:ext cx="12192001" cy="1649017"/>
          </a:xfrm>
          <a:prstGeom prst="rect">
            <a:avLst/>
          </a:prstGeom>
          <a:ln w="12700">
            <a:miter lim="400000"/>
          </a:ln>
        </p:spPr>
      </p:pic>
      <p:pic>
        <p:nvPicPr>
          <p:cNvPr id="30" name="Google Shape;20;p24" descr="Google Shape;20;p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3186" y="264722"/>
            <a:ext cx="1182169" cy="838082"/>
          </a:xfrm>
          <a:prstGeom prst="rect">
            <a:avLst/>
          </a:prstGeom>
          <a:ln w="12700">
            <a:miter lim="400000"/>
          </a:ln>
        </p:spPr>
      </p:pic>
      <p:pic>
        <p:nvPicPr>
          <p:cNvPr id="31" name="Imagen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98438" y="6031230"/>
            <a:ext cx="2465083" cy="634991"/>
          </a:xfrm>
          <a:prstGeom prst="rect">
            <a:avLst/>
          </a:prstGeom>
          <a:ln w="12700">
            <a:miter lim="400000"/>
          </a:ln>
        </p:spPr>
      </p:pic>
      <p:sp>
        <p:nvSpPr>
          <p:cNvPr id="32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_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22;p25" descr="Google Shape;22;p25"/>
          <p:cNvPicPr>
            <a:picLocks noChangeAspect="1"/>
          </p:cNvPicPr>
          <p:nvPr/>
        </p:nvPicPr>
        <p:blipFill>
          <a:blip r:embed="rId2"/>
          <a:srcRect l="317" r="326"/>
          <a:stretch>
            <a:fillRect/>
          </a:stretch>
        </p:blipFill>
        <p:spPr>
          <a:xfrm>
            <a:off x="-17725" y="-57501"/>
            <a:ext cx="12294398" cy="6960350"/>
          </a:xfrm>
          <a:prstGeom prst="rect">
            <a:avLst/>
          </a:prstGeom>
          <a:ln w="12700">
            <a:miter lim="400000"/>
          </a:ln>
        </p:spPr>
      </p:pic>
      <p:sp>
        <p:nvSpPr>
          <p:cNvPr id="40" name="Texto del título"/>
          <p:cNvSpPr txBox="1">
            <a:spLocks noGrp="1"/>
          </p:cNvSpPr>
          <p:nvPr>
            <p:ph type="title"/>
          </p:nvPr>
        </p:nvSpPr>
        <p:spPr>
          <a:xfrm>
            <a:off x="1151626" y="2920893"/>
            <a:ext cx="5063401" cy="1783801"/>
          </a:xfrm>
          <a:prstGeom prst="rect">
            <a:avLst/>
          </a:prstGeom>
        </p:spPr>
        <p:txBody>
          <a:bodyPr anchor="b"/>
          <a:lstStyle>
            <a:lvl1pPr algn="l">
              <a:defRPr sz="3300">
                <a:solidFill>
                  <a:srgbClr val="FFFFFF"/>
                </a:solidFill>
              </a:defRPr>
            </a:lvl1pPr>
          </a:lstStyle>
          <a:p>
            <a:r>
              <a:t>Texto del título</a:t>
            </a:r>
          </a:p>
        </p:txBody>
      </p:sp>
      <p:pic>
        <p:nvPicPr>
          <p:cNvPr id="41" name="Google Shape;24;p25" descr="Google Shape;24;p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32" y="4992084"/>
            <a:ext cx="12192001" cy="1649017"/>
          </a:xfrm>
          <a:prstGeom prst="rect">
            <a:avLst/>
          </a:prstGeom>
          <a:ln w="12700">
            <a:miter lim="400000"/>
          </a:ln>
        </p:spPr>
      </p:pic>
      <p:sp>
        <p:nvSpPr>
          <p:cNvPr id="42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_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54;p26" descr="Google Shape;54;p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"/>
            <a:ext cx="12192000" cy="1684734"/>
          </a:xfrm>
          <a:prstGeom prst="rect">
            <a:avLst/>
          </a:prstGeom>
          <a:ln w="12700">
            <a:miter lim="400000"/>
          </a:ln>
        </p:spPr>
      </p:pic>
      <p:sp>
        <p:nvSpPr>
          <p:cNvPr id="120" name="Texto del título"/>
          <p:cNvSpPr txBox="1">
            <a:spLocks noGrp="1"/>
          </p:cNvSpPr>
          <p:nvPr>
            <p:ph type="title"/>
          </p:nvPr>
        </p:nvSpPr>
        <p:spPr>
          <a:xfrm>
            <a:off x="4779050" y="225608"/>
            <a:ext cx="6630001" cy="1063501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t>Texto del título</a:t>
            </a:r>
          </a:p>
        </p:txBody>
      </p:sp>
      <p:sp>
        <p:nvSpPr>
          <p:cNvPr id="121" name="Nivel de texto 1…"/>
          <p:cNvSpPr txBox="1">
            <a:spLocks noGrp="1"/>
          </p:cNvSpPr>
          <p:nvPr>
            <p:ph type="body" idx="1"/>
          </p:nvPr>
        </p:nvSpPr>
        <p:spPr>
          <a:xfrm>
            <a:off x="838200" y="1981200"/>
            <a:ext cx="10515600" cy="3979201"/>
          </a:xfrm>
          <a:prstGeom prst="rect">
            <a:avLst/>
          </a:prstGeom>
        </p:spPr>
        <p:txBody>
          <a:bodyPr/>
          <a:lstStyle/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pic>
        <p:nvPicPr>
          <p:cNvPr id="122" name="Imagen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98438" y="6023610"/>
            <a:ext cx="2494664" cy="642611"/>
          </a:xfrm>
          <a:prstGeom prst="rect">
            <a:avLst/>
          </a:prstGeom>
          <a:ln w="12700">
            <a:miter lim="400000"/>
          </a:ln>
        </p:spPr>
      </p:pic>
      <p:sp>
        <p:nvSpPr>
          <p:cNvPr id="123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iseño personalizad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Número de diapositiva"/>
          <p:cNvSpPr txBox="1">
            <a:spLocks noGrp="1"/>
          </p:cNvSpPr>
          <p:nvPr>
            <p:ph type="sldNum" sz="quarter" idx="2"/>
          </p:nvPr>
        </p:nvSpPr>
        <p:spPr>
          <a:xfrm>
            <a:off x="11755748" y="6333133"/>
            <a:ext cx="384997" cy="37335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  <p:pic>
        <p:nvPicPr>
          <p:cNvPr id="149" name="Google Shape;70;p29" descr="Google Shape;70;p29"/>
          <p:cNvPicPr>
            <a:picLocks noChangeAspect="1"/>
          </p:cNvPicPr>
          <p:nvPr/>
        </p:nvPicPr>
        <p:blipFill>
          <a:blip r:embed="rId2"/>
          <a:srcRect t="19015"/>
          <a:stretch>
            <a:fillRect/>
          </a:stretch>
        </p:blipFill>
        <p:spPr>
          <a:xfrm>
            <a:off x="0" y="1303998"/>
            <a:ext cx="12192000" cy="5554126"/>
          </a:xfrm>
          <a:prstGeom prst="rect">
            <a:avLst/>
          </a:prstGeom>
          <a:ln w="12700">
            <a:miter lim="400000"/>
          </a:ln>
        </p:spPr>
      </p:pic>
      <p:sp>
        <p:nvSpPr>
          <p:cNvPr id="150" name="Texto del título"/>
          <p:cNvSpPr txBox="1">
            <a:spLocks noGrp="1"/>
          </p:cNvSpPr>
          <p:nvPr>
            <p:ph type="title"/>
          </p:nvPr>
        </p:nvSpPr>
        <p:spPr>
          <a:xfrm>
            <a:off x="3692261" y="2295486"/>
            <a:ext cx="4807501" cy="1783801"/>
          </a:xfrm>
          <a:prstGeom prst="rect">
            <a:avLst/>
          </a:prstGeom>
        </p:spPr>
        <p:txBody>
          <a:bodyPr anchor="b"/>
          <a:lstStyle>
            <a:lvl1pPr>
              <a:defRPr sz="2600">
                <a:solidFill>
                  <a:srgbClr val="FFFFFF"/>
                </a:solidFill>
              </a:defRPr>
            </a:lvl1pPr>
          </a:lstStyle>
          <a:p>
            <a:r>
              <a:t>Texto del título</a:t>
            </a:r>
          </a:p>
        </p:txBody>
      </p:sp>
      <p:pic>
        <p:nvPicPr>
          <p:cNvPr id="151" name="Google Shape;72;p29" descr="Google Shape;72;p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197724"/>
            <a:ext cx="5173125" cy="889126"/>
          </a:xfrm>
          <a:prstGeom prst="rect">
            <a:avLst/>
          </a:prstGeom>
          <a:ln w="12700">
            <a:miter lim="400000"/>
          </a:ln>
        </p:spPr>
      </p:pic>
      <p:pic>
        <p:nvPicPr>
          <p:cNvPr id="152" name="Google Shape;73;p29" descr="Google Shape;73;p29"/>
          <p:cNvPicPr>
            <a:picLocks noChangeAspect="1"/>
          </p:cNvPicPr>
          <p:nvPr/>
        </p:nvPicPr>
        <p:blipFill>
          <a:blip r:embed="rId4"/>
          <a:srcRect b="72137"/>
          <a:stretch>
            <a:fillRect/>
          </a:stretch>
        </p:blipFill>
        <p:spPr>
          <a:xfrm rot="5400000">
            <a:off x="-852413" y="4770337"/>
            <a:ext cx="2349451" cy="895226"/>
          </a:xfrm>
          <a:prstGeom prst="rect">
            <a:avLst/>
          </a:prstGeom>
          <a:ln w="12700">
            <a:miter lim="400000"/>
          </a:ln>
        </p:spPr>
      </p:pic>
      <p:pic>
        <p:nvPicPr>
          <p:cNvPr id="153" name="Google Shape;74;p29" descr="Google Shape;74;p2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2592" y="5066248"/>
            <a:ext cx="3885927" cy="141415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92000">
              <a:srgbClr val="FFFFFF"/>
            </a:gs>
            <a:gs pos="100000">
              <a:srgbClr val="F2F2F2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64;p28" descr="Google Shape;64;p28"/>
          <p:cNvPicPr>
            <a:picLocks noChangeAspect="1"/>
          </p:cNvPicPr>
          <p:nvPr/>
        </p:nvPicPr>
        <p:blipFill>
          <a:blip r:embed="rId7">
            <a:alphaModFix amt="4000"/>
          </a:blip>
          <a:stretch>
            <a:fillRect/>
          </a:stretch>
        </p:blipFill>
        <p:spPr>
          <a:xfrm>
            <a:off x="6692027" y="-294006"/>
            <a:ext cx="7186101" cy="9827476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Google Shape;65;p28"/>
          <p:cNvSpPr/>
          <p:nvPr/>
        </p:nvSpPr>
        <p:spPr>
          <a:xfrm>
            <a:off x="840150" y="6501300"/>
            <a:ext cx="8492242" cy="70083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endParaRPr/>
          </a:p>
        </p:txBody>
      </p:sp>
      <p:pic>
        <p:nvPicPr>
          <p:cNvPr id="4" name="Google Shape;67;p28" descr="Google Shape;67;p2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7049" y="6103349"/>
            <a:ext cx="401206" cy="548676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Imagen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98438" y="6031345"/>
            <a:ext cx="2464636" cy="634876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Texto del título"/>
          <p:cNvSpPr txBox="1">
            <a:spLocks noGrp="1"/>
          </p:cNvSpPr>
          <p:nvPr>
            <p:ph type="title"/>
          </p:nvPr>
        </p:nvSpPr>
        <p:spPr>
          <a:xfrm>
            <a:off x="609600" y="92074"/>
            <a:ext cx="1097280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normAutofit/>
          </a:bodyPr>
          <a:lstStyle/>
          <a:p>
            <a:r>
              <a:t>Texto del título</a:t>
            </a:r>
          </a:p>
        </p:txBody>
      </p:sp>
      <p:sp>
        <p:nvSpPr>
          <p:cNvPr id="7" name="Nivel de texto 1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>
            <a:normAutofit/>
          </a:bodyPr>
          <a:lstStyle/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8" name="Número de diapositiva"/>
          <p:cNvSpPr txBox="1">
            <a:spLocks noGrp="1"/>
          </p:cNvSpPr>
          <p:nvPr>
            <p:ph type="sldNum" sz="quarter" idx="2"/>
          </p:nvPr>
        </p:nvSpPr>
        <p:spPr>
          <a:xfrm>
            <a:off x="5892800" y="6356350"/>
            <a:ext cx="2844800" cy="373350"/>
          </a:xfrm>
          <a:prstGeom prst="rect">
            <a:avLst/>
          </a:prstGeom>
          <a:ln w="12700">
            <a:miter lim="400000"/>
          </a:ln>
        </p:spPr>
        <p:txBody>
          <a:bodyPr wrap="none" lIns="91424" tIns="91424" rIns="91424" bIns="91424">
            <a:spAutoFit/>
          </a:bodyPr>
          <a:lstStyle>
            <a:lvl1pPr algn="r">
              <a:defRPr sz="1300">
                <a:solidFill>
                  <a:srgbClr val="3F3F3F"/>
                </a:solidFill>
                <a:latin typeface="Roboto Bold"/>
                <a:ea typeface="Roboto Bold"/>
                <a:cs typeface="Roboto Bold"/>
                <a:sym typeface="Roboto Bold"/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9" r:id="rId4"/>
    <p:sldLayoutId id="2147483662" r:id="rId5"/>
  </p:sldLayoutIdLst>
  <p:transition spd="med"/>
  <p:txStyles>
    <p:titleStyle>
      <a:lvl1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rgbClr val="3F3F3F"/>
          </a:solidFill>
          <a:uFillTx/>
          <a:latin typeface="Montserrat Bold"/>
          <a:ea typeface="Montserrat Bold"/>
          <a:cs typeface="Montserrat Bold"/>
          <a:sym typeface="Montserrat Bold"/>
        </a:defRPr>
      </a:lvl1pPr>
      <a:lvl2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rgbClr val="3F3F3F"/>
          </a:solidFill>
          <a:uFillTx/>
          <a:latin typeface="Montserrat Bold"/>
          <a:ea typeface="Montserrat Bold"/>
          <a:cs typeface="Montserrat Bold"/>
          <a:sym typeface="Montserrat Bold"/>
        </a:defRPr>
      </a:lvl2pPr>
      <a:lvl3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rgbClr val="3F3F3F"/>
          </a:solidFill>
          <a:uFillTx/>
          <a:latin typeface="Montserrat Bold"/>
          <a:ea typeface="Montserrat Bold"/>
          <a:cs typeface="Montserrat Bold"/>
          <a:sym typeface="Montserrat Bold"/>
        </a:defRPr>
      </a:lvl3pPr>
      <a:lvl4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rgbClr val="3F3F3F"/>
          </a:solidFill>
          <a:uFillTx/>
          <a:latin typeface="Montserrat Bold"/>
          <a:ea typeface="Montserrat Bold"/>
          <a:cs typeface="Montserrat Bold"/>
          <a:sym typeface="Montserrat Bold"/>
        </a:defRPr>
      </a:lvl4pPr>
      <a:lvl5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rgbClr val="3F3F3F"/>
          </a:solidFill>
          <a:uFillTx/>
          <a:latin typeface="Montserrat Bold"/>
          <a:ea typeface="Montserrat Bold"/>
          <a:cs typeface="Montserrat Bold"/>
          <a:sym typeface="Montserrat Bold"/>
        </a:defRPr>
      </a:lvl5pPr>
      <a:lvl6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rgbClr val="3F3F3F"/>
          </a:solidFill>
          <a:uFillTx/>
          <a:latin typeface="Montserrat Bold"/>
          <a:ea typeface="Montserrat Bold"/>
          <a:cs typeface="Montserrat Bold"/>
          <a:sym typeface="Montserrat Bold"/>
        </a:defRPr>
      </a:lvl6pPr>
      <a:lvl7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rgbClr val="3F3F3F"/>
          </a:solidFill>
          <a:uFillTx/>
          <a:latin typeface="Montserrat Bold"/>
          <a:ea typeface="Montserrat Bold"/>
          <a:cs typeface="Montserrat Bold"/>
          <a:sym typeface="Montserrat Bold"/>
        </a:defRPr>
      </a:lvl7pPr>
      <a:lvl8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rgbClr val="3F3F3F"/>
          </a:solidFill>
          <a:uFillTx/>
          <a:latin typeface="Montserrat Bold"/>
          <a:ea typeface="Montserrat Bold"/>
          <a:cs typeface="Montserrat Bold"/>
          <a:sym typeface="Montserrat Bold"/>
        </a:defRPr>
      </a:lvl8pPr>
      <a:lvl9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rgbClr val="3F3F3F"/>
          </a:solidFill>
          <a:uFillTx/>
          <a:latin typeface="Montserrat Bold"/>
          <a:ea typeface="Montserrat Bold"/>
          <a:cs typeface="Montserrat Bold"/>
          <a:sym typeface="Montserrat Bold"/>
        </a:defRPr>
      </a:lvl9pPr>
    </p:titleStyle>
    <p:bodyStyle>
      <a:lvl1pPr marL="457200" marR="0" indent="-406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5A5A5F"/>
        </a:buClr>
        <a:buSzPts val="2800"/>
        <a:buFont typeface="Montserrat Regular"/>
        <a:buChar char="•"/>
        <a:tabLst/>
        <a:defRPr sz="2800" b="0" i="0" u="none" strike="noStrike" cap="none" spc="0" baseline="0">
          <a:solidFill>
            <a:srgbClr val="3F3F3F"/>
          </a:solidFill>
          <a:uFillTx/>
          <a:latin typeface="Montserrat Regular"/>
          <a:ea typeface="Montserrat Regular"/>
          <a:cs typeface="Montserrat Regular"/>
          <a:sym typeface="Montserrat Regular"/>
        </a:defRPr>
      </a:lvl1pPr>
      <a:lvl2pPr marL="977900" marR="0" indent="-4445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5A5A5F"/>
        </a:buClr>
        <a:buSzPts val="2800"/>
        <a:buFont typeface="Montserrat Regular"/>
        <a:buChar char="•"/>
        <a:tabLst/>
        <a:defRPr sz="2800" b="0" i="0" u="none" strike="noStrike" cap="none" spc="0" baseline="0">
          <a:solidFill>
            <a:srgbClr val="3F3F3F"/>
          </a:solidFill>
          <a:uFillTx/>
          <a:latin typeface="Montserrat Regular"/>
          <a:ea typeface="Montserrat Regular"/>
          <a:cs typeface="Montserrat Regular"/>
          <a:sym typeface="Montserrat Regular"/>
        </a:defRPr>
      </a:lvl2pPr>
      <a:lvl3pPr marL="1513839" marR="0" indent="-4978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5A5A5F"/>
        </a:buClr>
        <a:buSzPts val="2800"/>
        <a:buFont typeface="Montserrat Regular"/>
        <a:buChar char="•"/>
        <a:tabLst/>
        <a:defRPr sz="2800" b="0" i="0" u="none" strike="noStrike" cap="none" spc="0" baseline="0">
          <a:solidFill>
            <a:srgbClr val="3F3F3F"/>
          </a:solidFill>
          <a:uFillTx/>
          <a:latin typeface="Montserrat Regular"/>
          <a:ea typeface="Montserrat Regular"/>
          <a:cs typeface="Montserrat Regular"/>
          <a:sym typeface="Montserrat Regular"/>
        </a:defRPr>
      </a:lvl3pPr>
      <a:lvl4pPr marL="20193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5A5A5F"/>
        </a:buClr>
        <a:buSzPts val="2800"/>
        <a:buFont typeface="Montserrat Regular"/>
        <a:buChar char="•"/>
        <a:tabLst/>
        <a:defRPr sz="2800" b="0" i="0" u="none" strike="noStrike" cap="none" spc="0" baseline="0">
          <a:solidFill>
            <a:srgbClr val="3F3F3F"/>
          </a:solidFill>
          <a:uFillTx/>
          <a:latin typeface="Montserrat Regular"/>
          <a:ea typeface="Montserrat Regular"/>
          <a:cs typeface="Montserrat Regular"/>
          <a:sym typeface="Montserrat Regular"/>
        </a:defRPr>
      </a:lvl4pPr>
      <a:lvl5pPr marL="24765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5A5A5F"/>
        </a:buClr>
        <a:buSzPts val="2800"/>
        <a:buFont typeface="Montserrat Regular"/>
        <a:buChar char="•"/>
        <a:tabLst/>
        <a:defRPr sz="2800" b="0" i="0" u="none" strike="noStrike" cap="none" spc="0" baseline="0">
          <a:solidFill>
            <a:srgbClr val="3F3F3F"/>
          </a:solidFill>
          <a:uFillTx/>
          <a:latin typeface="Montserrat Regular"/>
          <a:ea typeface="Montserrat Regular"/>
          <a:cs typeface="Montserrat Regular"/>
          <a:sym typeface="Montserrat Regular"/>
        </a:defRPr>
      </a:lvl5pPr>
      <a:lvl6pPr marL="29337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5A5A5F"/>
        </a:buClr>
        <a:buSzPts val="2800"/>
        <a:buFont typeface="Montserrat Regular"/>
        <a:buChar char="•"/>
        <a:tabLst/>
        <a:defRPr sz="2800" b="0" i="0" u="none" strike="noStrike" cap="none" spc="0" baseline="0">
          <a:solidFill>
            <a:srgbClr val="3F3F3F"/>
          </a:solidFill>
          <a:uFillTx/>
          <a:latin typeface="Montserrat Regular"/>
          <a:ea typeface="Montserrat Regular"/>
          <a:cs typeface="Montserrat Regular"/>
          <a:sym typeface="Montserrat Regular"/>
        </a:defRPr>
      </a:lvl6pPr>
      <a:lvl7pPr marL="33909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5A5A5F"/>
        </a:buClr>
        <a:buSzPts val="2800"/>
        <a:buFont typeface="Montserrat Regular"/>
        <a:buChar char="•"/>
        <a:tabLst/>
        <a:defRPr sz="2800" b="0" i="0" u="none" strike="noStrike" cap="none" spc="0" baseline="0">
          <a:solidFill>
            <a:srgbClr val="3F3F3F"/>
          </a:solidFill>
          <a:uFillTx/>
          <a:latin typeface="Montserrat Regular"/>
          <a:ea typeface="Montserrat Regular"/>
          <a:cs typeface="Montserrat Regular"/>
          <a:sym typeface="Montserrat Regular"/>
        </a:defRPr>
      </a:lvl7pPr>
      <a:lvl8pPr marL="38481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5A5A5F"/>
        </a:buClr>
        <a:buSzPts val="2800"/>
        <a:buFont typeface="Montserrat Regular"/>
        <a:buChar char="•"/>
        <a:tabLst/>
        <a:defRPr sz="2800" b="0" i="0" u="none" strike="noStrike" cap="none" spc="0" baseline="0">
          <a:solidFill>
            <a:srgbClr val="3F3F3F"/>
          </a:solidFill>
          <a:uFillTx/>
          <a:latin typeface="Montserrat Regular"/>
          <a:ea typeface="Montserrat Regular"/>
          <a:cs typeface="Montserrat Regular"/>
          <a:sym typeface="Montserrat Regular"/>
        </a:defRPr>
      </a:lvl8pPr>
      <a:lvl9pPr marL="43053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5A5A5F"/>
        </a:buClr>
        <a:buSzPts val="2800"/>
        <a:buFont typeface="Montserrat Regular"/>
        <a:buChar char="•"/>
        <a:tabLst/>
        <a:defRPr sz="2800" b="0" i="0" u="none" strike="noStrike" cap="none" spc="0" baseline="0">
          <a:solidFill>
            <a:srgbClr val="3F3F3F"/>
          </a:solidFill>
          <a:uFillTx/>
          <a:latin typeface="Montserrat Regular"/>
          <a:ea typeface="Montserrat Regular"/>
          <a:cs typeface="Montserrat Regular"/>
          <a:sym typeface="Montserrat Regular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Roboto Bold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Roboto Bold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Roboto Bold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Roboto Bold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Roboto Bold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Roboto Bold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Roboto Bold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Roboto Bold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Roboto Bold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lefodigital.keepitsimplexd.dev/" TargetMode="Externa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oItBinary/LeFodigital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82;p1" descr="Google Shape;82;p1"/>
          <p:cNvPicPr>
            <a:picLocks noChangeAspect="1"/>
          </p:cNvPicPr>
          <p:nvPr/>
        </p:nvPicPr>
        <p:blipFill>
          <a:blip r:embed="rId2"/>
          <a:srcRect l="17122" t="11502" b="4661"/>
          <a:stretch>
            <a:fillRect/>
          </a:stretch>
        </p:blipFill>
        <p:spPr>
          <a:xfrm>
            <a:off x="-23524" y="0"/>
            <a:ext cx="7151253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62" name="Google Shape;79;p1"/>
          <p:cNvSpPr txBox="1">
            <a:spLocks noGrp="1"/>
          </p:cNvSpPr>
          <p:nvPr>
            <p:ph type="ctrTitle"/>
          </p:nvPr>
        </p:nvSpPr>
        <p:spPr>
          <a:xfrm>
            <a:off x="6244711" y="4302855"/>
            <a:ext cx="4976755" cy="1728337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s-CO" b="1" dirty="0"/>
              <a:t>Diseño e implementación de </a:t>
            </a:r>
            <a:r>
              <a:rPr lang="es-CO" b="1" dirty="0" err="1"/>
              <a:t>LeFodigital</a:t>
            </a:r>
            <a:r>
              <a:rPr lang="es-CO" b="1" dirty="0"/>
              <a:t> para fortalecer competencias digitales básicas en estudiantes de instituciones educativas agropecuarias de La Paz, Cesar</a:t>
            </a:r>
            <a:br>
              <a:rPr lang="es-CO" dirty="0"/>
            </a:br>
            <a:endParaRPr dirty="0"/>
          </a:p>
        </p:txBody>
      </p:sp>
      <p:sp>
        <p:nvSpPr>
          <p:cNvPr id="163" name="Google Shape;80;p1"/>
          <p:cNvSpPr txBox="1">
            <a:spLocks noGrp="1"/>
          </p:cNvSpPr>
          <p:nvPr>
            <p:ph type="subTitle" sz="quarter" idx="1"/>
          </p:nvPr>
        </p:nvSpPr>
        <p:spPr>
          <a:xfrm>
            <a:off x="6815664" y="6163819"/>
            <a:ext cx="4405802" cy="768901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0" indent="0"/>
            <a:r>
              <a:rPr lang="es-CO" dirty="0"/>
              <a:t>Fabian </a:t>
            </a:r>
            <a:r>
              <a:rPr lang="es-CO" dirty="0" err="1"/>
              <a:t>Jose</a:t>
            </a:r>
            <a:r>
              <a:rPr lang="es-CO" dirty="0"/>
              <a:t> Menco Manjarres</a:t>
            </a:r>
          </a:p>
          <a:p>
            <a:pPr marL="0" indent="0"/>
            <a:r>
              <a:rPr lang="es-CO" dirty="0"/>
              <a:t>Leonardo Florez Ortega</a:t>
            </a:r>
          </a:p>
          <a:p>
            <a:pPr marL="0" indent="0"/>
            <a:endParaRPr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87;p2"/>
          <p:cNvSpPr txBox="1">
            <a:spLocks noGrp="1"/>
          </p:cNvSpPr>
          <p:nvPr>
            <p:ph type="title"/>
          </p:nvPr>
        </p:nvSpPr>
        <p:spPr>
          <a:xfrm>
            <a:off x="3058151" y="365125"/>
            <a:ext cx="6339902" cy="12942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s-ES" b="1" dirty="0"/>
              <a:t>Introducción</a:t>
            </a:r>
            <a:br>
              <a:rPr lang="es-CO" b="1" dirty="0"/>
            </a:br>
            <a:endParaRPr dirty="0"/>
          </a:p>
        </p:txBody>
      </p:sp>
      <p:sp>
        <p:nvSpPr>
          <p:cNvPr id="168" name="Google Shape;88;p2"/>
          <p:cNvSpPr txBox="1">
            <a:spLocks noGrp="1"/>
          </p:cNvSpPr>
          <p:nvPr>
            <p:ph type="body" sz="half" idx="1"/>
          </p:nvPr>
        </p:nvSpPr>
        <p:spPr>
          <a:xfrm>
            <a:off x="2930331" y="1553399"/>
            <a:ext cx="8295600" cy="3751201"/>
          </a:xfrm>
          <a:prstGeom prst="rect">
            <a:avLst/>
          </a:prstGeom>
        </p:spPr>
        <p:txBody>
          <a:bodyPr>
            <a:normAutofit fontScale="77500" lnSpcReduction="20000"/>
          </a:bodyPr>
          <a:lstStyle/>
          <a:p>
            <a:r>
              <a:rPr lang="es-CO" dirty="0"/>
              <a:t>La brecha digital en la zona urbano-rural sigue siendo un elemento relevante para el proyecto. En 2024, el 65,6 % de los hogares colombianos disponía de conexión a Internet, frente al 72,5 % en cabeceras y solo el 41,9 % en centros poblados y rural disperso; además, en este último ámbito el acceso móvil fue el principal tipo de conexión en el 74,6 % de los hogares conectados (Departamento Administrativo Nacional de Estadística [DANE], 2025). Estos datos respaldan la necesidad de soluciones web responsivas, de consumo moderado y diseñadas para contextos con restricciones de conectividad.</a:t>
            </a:r>
          </a:p>
          <a:p>
            <a:r>
              <a:rPr lang="es-CO" dirty="0" err="1"/>
              <a:t>LeFodigital</a:t>
            </a:r>
            <a:r>
              <a:rPr lang="es-CO" dirty="0"/>
              <a:t> responde a esa necesidad mediante una plataforma que integra recursos, cursos, actividades, evidencias, seguimiento, gamificación y reportes. </a:t>
            </a:r>
            <a:endParaRPr dirty="0"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93;p3"/>
          <p:cNvSpPr txBox="1">
            <a:spLocks noGrp="1"/>
          </p:cNvSpPr>
          <p:nvPr>
            <p:ph type="title"/>
          </p:nvPr>
        </p:nvSpPr>
        <p:spPr>
          <a:xfrm>
            <a:off x="384709" y="0"/>
            <a:ext cx="7343445" cy="1783801"/>
          </a:xfrm>
          <a:prstGeom prst="rect">
            <a:avLst/>
          </a:prstGeom>
        </p:spPr>
        <p:txBody>
          <a:bodyPr/>
          <a:lstStyle/>
          <a:p>
            <a:r>
              <a:rPr lang="es-ES" b="1" dirty="0"/>
              <a:t>Líneas de investigación y grupos de investigación</a:t>
            </a:r>
            <a:br>
              <a:rPr lang="es-CO" b="1" dirty="0"/>
            </a:br>
            <a:endParaRPr dirty="0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BD58C693-191B-8437-3EF9-65C1E157E8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4811222"/>
              </p:ext>
            </p:extLst>
          </p:nvPr>
        </p:nvGraphicFramePr>
        <p:xfrm>
          <a:off x="3124200" y="1433773"/>
          <a:ext cx="5943600" cy="2954655"/>
        </p:xfrm>
        <a:graphic>
          <a:graphicData uri="http://schemas.openxmlformats.org/drawingml/2006/table">
            <a:tbl>
              <a:tblPr firstRow="1" firstCol="1" bandRow="1">
                <a:tableStyleId>{35758FB7-9AC5-4552-8A53-C91805E547FA}</a:tableStyleId>
              </a:tblPr>
              <a:tblGrid>
                <a:gridCol w="1329813">
                  <a:extLst>
                    <a:ext uri="{9D8B030D-6E8A-4147-A177-3AD203B41FA5}">
                      <a16:colId xmlns:a16="http://schemas.microsoft.com/office/drawing/2014/main" val="25719539"/>
                    </a:ext>
                  </a:extLst>
                </a:gridCol>
                <a:gridCol w="4613787">
                  <a:extLst>
                    <a:ext uri="{9D8B030D-6E8A-4147-A177-3AD203B41FA5}">
                      <a16:colId xmlns:a16="http://schemas.microsoft.com/office/drawing/2014/main" val="13631969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457200" algn="ctr">
                        <a:lnSpc>
                          <a:spcPct val="200000"/>
                        </a:lnSpc>
                        <a:buNone/>
                      </a:pPr>
                      <a:r>
                        <a:rPr lang="es-CO" sz="1000">
                          <a:effectLst/>
                        </a:rPr>
                        <a:t>Elemento</a:t>
                      </a:r>
                      <a:endParaRPr lang="es-CO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44450" marB="44450" anchor="ctr"/>
                </a:tc>
                <a:tc>
                  <a:txBody>
                    <a:bodyPr/>
                    <a:lstStyle/>
                    <a:p>
                      <a:pPr indent="457200" algn="ctr">
                        <a:lnSpc>
                          <a:spcPct val="200000"/>
                        </a:lnSpc>
                        <a:buNone/>
                      </a:pPr>
                      <a:r>
                        <a:rPr lang="es-CO" sz="1000">
                          <a:effectLst/>
                        </a:rPr>
                        <a:t>Articulación del proyecto</a:t>
                      </a:r>
                      <a:endParaRPr lang="es-CO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44450" marB="44450" anchor="ctr"/>
                </a:tc>
                <a:extLst>
                  <a:ext uri="{0D108BD9-81ED-4DB2-BD59-A6C34878D82A}">
                    <a16:rowId xmlns:a16="http://schemas.microsoft.com/office/drawing/2014/main" val="24835914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457200">
                        <a:lnSpc>
                          <a:spcPct val="200000"/>
                        </a:lnSpc>
                        <a:buNone/>
                      </a:pPr>
                      <a:r>
                        <a:rPr lang="es-CO" sz="1000" dirty="0">
                          <a:effectLst/>
                        </a:rPr>
                        <a:t>Línea de investigación</a:t>
                      </a:r>
                      <a:endParaRPr lang="es-CO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44450" marB="44450"/>
                </a:tc>
                <a:tc>
                  <a:txBody>
                    <a:bodyPr/>
                    <a:lstStyle/>
                    <a:p>
                      <a:pPr indent="457200">
                        <a:lnSpc>
                          <a:spcPct val="200000"/>
                        </a:lnSpc>
                        <a:buNone/>
                      </a:pPr>
                      <a:r>
                        <a:rPr lang="es-CO" sz="1000">
                          <a:effectLst/>
                        </a:rPr>
                        <a:t>Gestión de sistemas y desarrollo de software.</a:t>
                      </a:r>
                      <a:endParaRPr lang="es-CO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44450" marB="44450"/>
                </a:tc>
                <a:extLst>
                  <a:ext uri="{0D108BD9-81ED-4DB2-BD59-A6C34878D82A}">
                    <a16:rowId xmlns:a16="http://schemas.microsoft.com/office/drawing/2014/main" val="12916587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457200">
                        <a:lnSpc>
                          <a:spcPct val="200000"/>
                        </a:lnSpc>
                        <a:buNone/>
                      </a:pPr>
                      <a:r>
                        <a:rPr lang="es-CO" sz="1000">
                          <a:effectLst/>
                        </a:rPr>
                        <a:t>Línea complementaria</a:t>
                      </a:r>
                      <a:endParaRPr lang="es-CO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44450" marB="44450"/>
                </a:tc>
                <a:tc>
                  <a:txBody>
                    <a:bodyPr/>
                    <a:lstStyle/>
                    <a:p>
                      <a:pPr indent="457200">
                        <a:lnSpc>
                          <a:spcPct val="200000"/>
                        </a:lnSpc>
                        <a:buNone/>
                      </a:pPr>
                      <a:r>
                        <a:rPr lang="es-CO" sz="1000" dirty="0">
                          <a:effectLst/>
                        </a:rPr>
                        <a:t>Tecnologías aplicadas a la educación y apropiación social del conocimiento.</a:t>
                      </a:r>
                      <a:endParaRPr lang="es-CO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44450" marB="44450"/>
                </a:tc>
                <a:extLst>
                  <a:ext uri="{0D108BD9-81ED-4DB2-BD59-A6C34878D82A}">
                    <a16:rowId xmlns:a16="http://schemas.microsoft.com/office/drawing/2014/main" val="2237914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457200">
                        <a:lnSpc>
                          <a:spcPct val="200000"/>
                        </a:lnSpc>
                        <a:buNone/>
                      </a:pPr>
                      <a:r>
                        <a:rPr lang="es-CO" sz="1000">
                          <a:effectLst/>
                        </a:rPr>
                        <a:t>Campo de aplicación</a:t>
                      </a:r>
                      <a:endParaRPr lang="es-CO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44450" marB="44450"/>
                </a:tc>
                <a:tc>
                  <a:txBody>
                    <a:bodyPr/>
                    <a:lstStyle/>
                    <a:p>
                      <a:pPr indent="457200">
                        <a:lnSpc>
                          <a:spcPct val="200000"/>
                        </a:lnSpc>
                        <a:buNone/>
                      </a:pPr>
                      <a:r>
                        <a:rPr lang="es-CO" sz="1000">
                          <a:effectLst/>
                        </a:rPr>
                        <a:t>Educación digital en instituciones agropecuarias de contexto rural.</a:t>
                      </a:r>
                      <a:endParaRPr lang="es-CO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44450" marB="44450"/>
                </a:tc>
                <a:extLst>
                  <a:ext uri="{0D108BD9-81ED-4DB2-BD59-A6C34878D82A}">
                    <a16:rowId xmlns:a16="http://schemas.microsoft.com/office/drawing/2014/main" val="28481706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457200">
                        <a:lnSpc>
                          <a:spcPct val="200000"/>
                        </a:lnSpc>
                        <a:buNone/>
                      </a:pPr>
                      <a:r>
                        <a:rPr lang="es-CO" sz="1000">
                          <a:effectLst/>
                        </a:rPr>
                        <a:t>Aporte</a:t>
                      </a:r>
                      <a:endParaRPr lang="es-CO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44450" marB="44450"/>
                </a:tc>
                <a:tc>
                  <a:txBody>
                    <a:bodyPr/>
                    <a:lstStyle/>
                    <a:p>
                      <a:pPr indent="457200">
                        <a:lnSpc>
                          <a:spcPct val="200000"/>
                        </a:lnSpc>
                        <a:buNone/>
                      </a:pPr>
                      <a:r>
                        <a:rPr lang="es-CO" sz="1000" dirty="0">
                          <a:effectLst/>
                        </a:rPr>
                        <a:t>Prototipo web persistente, modular y verificable para apoyar la formación en competencias digitales.</a:t>
                      </a:r>
                      <a:endParaRPr lang="es-CO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44450" marB="44450"/>
                </a:tc>
                <a:extLst>
                  <a:ext uri="{0D108BD9-81ED-4DB2-BD59-A6C34878D82A}">
                    <a16:rowId xmlns:a16="http://schemas.microsoft.com/office/drawing/2014/main" val="605136288"/>
                  </a:ext>
                </a:extLst>
              </a:tr>
            </a:tbl>
          </a:graphicData>
        </a:graphic>
      </p:graphicFrame>
      <p:sp>
        <p:nvSpPr>
          <p:cNvPr id="4" name="CuadroTexto 3">
            <a:extLst>
              <a:ext uri="{FF2B5EF4-FFF2-40B4-BE49-F238E27FC236}">
                <a16:creationId xmlns:a16="http://schemas.microsoft.com/office/drawing/2014/main" id="{0E1C4FCF-7795-A4B8-4B27-317A80985647}"/>
              </a:ext>
            </a:extLst>
          </p:cNvPr>
          <p:cNvSpPr txBox="1"/>
          <p:nvPr/>
        </p:nvSpPr>
        <p:spPr>
          <a:xfrm>
            <a:off x="3124200" y="4388429"/>
            <a:ext cx="5943600" cy="4308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es-CO" i="1" dirty="0">
                <a:solidFill>
                  <a:schemeClr val="bg1"/>
                </a:solidFill>
              </a:rPr>
              <a:t>Nota. </a:t>
            </a:r>
            <a:r>
              <a:rPr lang="es-CO" dirty="0">
                <a:solidFill>
                  <a:schemeClr val="bg1"/>
                </a:solidFill>
              </a:rPr>
              <a:t>La articulación presentada es de carácter temático y no implica adscripción formal a un semillero o grupo institucional.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33;p4"/>
          <p:cNvSpPr txBox="1">
            <a:spLocks noGrp="1"/>
          </p:cNvSpPr>
          <p:nvPr>
            <p:ph type="title"/>
          </p:nvPr>
        </p:nvSpPr>
        <p:spPr>
          <a:xfrm>
            <a:off x="4779050" y="225608"/>
            <a:ext cx="6630001" cy="1063501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s-ES" b="1" dirty="0"/>
              <a:t>Descripción del problema</a:t>
            </a:r>
            <a:br>
              <a:rPr lang="es-CO" b="1" dirty="0"/>
            </a:br>
            <a:endParaRPr dirty="0"/>
          </a:p>
        </p:txBody>
      </p:sp>
      <p:sp>
        <p:nvSpPr>
          <p:cNvPr id="187" name="Google Shape;134;p4"/>
          <p:cNvSpPr txBox="1">
            <a:spLocks noGrp="1"/>
          </p:cNvSpPr>
          <p:nvPr>
            <p:ph type="body" idx="1"/>
          </p:nvPr>
        </p:nvSpPr>
        <p:spPr>
          <a:xfrm>
            <a:off x="838200" y="1981199"/>
            <a:ext cx="10515600" cy="3979202"/>
          </a:xfrm>
          <a:prstGeom prst="rect">
            <a:avLst/>
          </a:prstGeom>
        </p:spPr>
        <p:txBody>
          <a:bodyPr>
            <a:normAutofit fontScale="77500" lnSpcReduction="20000"/>
          </a:bodyPr>
          <a:lstStyle/>
          <a:p>
            <a:r>
              <a:rPr lang="es-CO" dirty="0"/>
              <a:t>En las instituciones educativas agropecuarias de La Paz, Cesar, los estudiantes requieren oportunidades sistemáticas para practicar búsqueda y evaluación de información, producción de contenidos, comunicación, seguridad y resolución de problemas digitales. La problemática no se reduce a disponer de computadores: también comprende la ausencia de recursos contextualizados, actividades prácticas continuas, retroalimentación y mecanismos de seguimiento que permitan al docente identificar avances y dificultades.</a:t>
            </a:r>
          </a:p>
          <a:p>
            <a:r>
              <a:rPr lang="es-CO" dirty="0"/>
              <a:t>El contexto rural intensifica estas barreras. La diferencia de 30,6 puntos porcentuales entre la conexión de hogares en cabeceras y la de centros poblados y rural disperso confirma una desigualdad de acceso; asimismo, el peso del acceso móvil exige interfaces adaptables y recorridos simples (DANE, 2025). En consecuencia, una plataforma educativa para este entorno debe operar desde navegador, responder a diferentes tamaños de pantalla, presentar contenidos en español y reducir dependencias innecesarias del dispositivo.</a:t>
            </a:r>
          </a:p>
          <a:p>
            <a:pPr marL="0" indent="0">
              <a:buSzTx/>
              <a:buNone/>
            </a:pPr>
            <a:endParaRPr dirty="0"/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DE809-4866-14E2-EC2A-EC78825F9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33;p4">
            <a:extLst>
              <a:ext uri="{FF2B5EF4-FFF2-40B4-BE49-F238E27FC236}">
                <a16:creationId xmlns:a16="http://schemas.microsoft.com/office/drawing/2014/main" id="{03D259C9-258C-19A2-DBA1-C98BE0D849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79050" y="225608"/>
            <a:ext cx="6630001" cy="106350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s-ES" b="1" dirty="0"/>
              <a:t>Justificación</a:t>
            </a:r>
            <a:endParaRPr lang="es-CO" b="1" dirty="0"/>
          </a:p>
        </p:txBody>
      </p:sp>
      <p:sp>
        <p:nvSpPr>
          <p:cNvPr id="187" name="Google Shape;134;p4">
            <a:extLst>
              <a:ext uri="{FF2B5EF4-FFF2-40B4-BE49-F238E27FC236}">
                <a16:creationId xmlns:a16="http://schemas.microsoft.com/office/drawing/2014/main" id="{6C565333-459C-3E2E-46D7-16BA811521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981199"/>
            <a:ext cx="10515600" cy="3979202"/>
          </a:xfrm>
          <a:prstGeom prst="rect">
            <a:avLst/>
          </a:prstGeom>
        </p:spPr>
        <p:txBody>
          <a:bodyPr>
            <a:normAutofit fontScale="70000" lnSpcReduction="20000"/>
          </a:bodyPr>
          <a:lstStyle/>
          <a:p>
            <a:r>
              <a:rPr lang="es-CO" dirty="0"/>
              <a:t>El proyecto es pertinente porque articula una necesidad educativa con una solución tecnológica verificable. La Política Nacional para Impulsar la Innovación en las Prácticas Educativas a través de las Tecnologías Digitales reconoce la importancia de fortalecer capacidades, contenidos y condiciones de apropiación, no solo infraestructura (Departamento Nacional de Planeación [DNP], 2020). </a:t>
            </a:r>
            <a:r>
              <a:rPr lang="es-CO" dirty="0" err="1"/>
              <a:t>LeFodigital</a:t>
            </a:r>
            <a:r>
              <a:rPr lang="es-CO" dirty="0"/>
              <a:t> materializa esa orientación mediante prácticas graduadas y registro del desempeño.</a:t>
            </a:r>
          </a:p>
          <a:p>
            <a:r>
              <a:rPr lang="es-CO" dirty="0"/>
              <a:t>En el plano pedagógico, la organización de actividades alrededor de conocimientos previos y tareas aplicadas favorece aprendizajes con sentido, coherentes con los planteamientos del aprendizaje significativo (Ausubel et al., 1983). La plataforma permite que el estudiante explore, complete actividades, cargue evidencias y reciba retroalimentación visible; a su vez, el profesor puede organizar cursos, publicar actividades y consultar reportes. Estudios sobre competencia digital docente señalan que la comunicación con la comunidad educativa y la orientación en línea se relacionan con prácticas y condiciones que deben desarrollarse de forma situada (Guillén-Gámez &amp; Mayorga-Fernández, 2022; Guillén-Gámez et al., 2022).</a:t>
            </a:r>
          </a:p>
          <a:p>
            <a:pPr marL="0" indent="0">
              <a:buSzTx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35691228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D34D7-CC50-0469-ABA1-6CF79F83D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93;p3">
            <a:extLst>
              <a:ext uri="{FF2B5EF4-FFF2-40B4-BE49-F238E27FC236}">
                <a16:creationId xmlns:a16="http://schemas.microsoft.com/office/drawing/2014/main" id="{A64630A9-4D97-604E-5C82-CC62DF1129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4710" y="1"/>
            <a:ext cx="2387988" cy="99305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s-ES" b="1" dirty="0"/>
              <a:t>Objetivos</a:t>
            </a:r>
            <a:endParaRPr lang="es-CO" b="1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4F261C6D-3FC2-9E65-864C-D107204E04AA}"/>
              </a:ext>
            </a:extLst>
          </p:cNvPr>
          <p:cNvSpPr txBox="1"/>
          <p:nvPr/>
        </p:nvSpPr>
        <p:spPr>
          <a:xfrm>
            <a:off x="570271" y="1278193"/>
            <a:ext cx="9448800" cy="1077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es-CO" b="1" dirty="0">
                <a:solidFill>
                  <a:schemeClr val="bg1"/>
                </a:solidFill>
              </a:rPr>
              <a:t>Objetivo general</a:t>
            </a:r>
          </a:p>
          <a:p>
            <a:r>
              <a:rPr lang="es-CO" dirty="0">
                <a:solidFill>
                  <a:schemeClr val="bg1"/>
                </a:solidFill>
              </a:rPr>
              <a:t>Diseñar e implementar una plataforma web educativa para fortalecer las competencias digitales básicas en estudiantes de instituciones educativas agropecuarias del municipio de La Paz, Cesar, mediante recursos interactivos, actividades prácticas y mecanismos de seguimiento académico.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O" sz="1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698761B-161F-BC3A-76DF-5357E809E9E8}"/>
              </a:ext>
            </a:extLst>
          </p:cNvPr>
          <p:cNvSpPr txBox="1"/>
          <p:nvPr/>
        </p:nvSpPr>
        <p:spPr>
          <a:xfrm>
            <a:off x="570271" y="2492477"/>
            <a:ext cx="9448800" cy="23698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es-CO" b="1" dirty="0">
                <a:solidFill>
                  <a:schemeClr val="bg1"/>
                </a:solidFill>
              </a:rPr>
              <a:t>Objetivos específicos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s-CO" dirty="0">
                <a:solidFill>
                  <a:schemeClr val="bg1"/>
                </a:solidFill>
              </a:rPr>
              <a:t>Diagnosticar las necesidades formativas y las condiciones de acceso tecnológico de la población objetivo mediante un diseño institucional posterior de investigación mixta.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s-CO" dirty="0">
                <a:solidFill>
                  <a:schemeClr val="bg1"/>
                </a:solidFill>
              </a:rPr>
              <a:t>Definir requerimientos funcionales, no funcionales y criterios de aceptación para los roles de estudiante y profesor.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s-CO" dirty="0">
                <a:solidFill>
                  <a:schemeClr val="bg1"/>
                </a:solidFill>
              </a:rPr>
              <a:t>Diseñar una arquitectura web persistente, segura, modular y responsiva que integre interfaz, servicios, base de datos y almacenamiento de evidencias.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s-CO" dirty="0">
                <a:solidFill>
                  <a:schemeClr val="bg1"/>
                </a:solidFill>
              </a:rPr>
              <a:t>Implementar los módulos prioritarios de autenticación, cursos, actividades, evidencias, gamificación, blog, perfil, contacto, reportes y asistencia conversacional.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s-CO" dirty="0">
                <a:solidFill>
                  <a:schemeClr val="bg1"/>
                </a:solidFill>
              </a:rPr>
              <a:t>Evaluar la funcionalidad, calidad técnica y usabilidad operativa del prototipo en un entorno simulado y controlado, documentando resultados, limitaciones y prioridades para TRL6.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O" sz="1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19266038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D33B3-F10A-6BC3-28AC-068E18428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93;p3">
            <a:extLst>
              <a:ext uri="{FF2B5EF4-FFF2-40B4-BE49-F238E27FC236}">
                <a16:creationId xmlns:a16="http://schemas.microsoft.com/office/drawing/2014/main" id="{10E5D08B-EBC3-71BE-166A-7F1E6E9357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4633" y="147484"/>
            <a:ext cx="5190181" cy="629850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s-CO" b="1" dirty="0"/>
              <a:t>Módulos implementados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2FD80E6-C272-E807-13E2-7EB2E326A87F}"/>
              </a:ext>
            </a:extLst>
          </p:cNvPr>
          <p:cNvSpPr txBox="1"/>
          <p:nvPr/>
        </p:nvSpPr>
        <p:spPr>
          <a:xfrm>
            <a:off x="314633" y="1274563"/>
            <a:ext cx="11307096" cy="32624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s-CO" sz="1800" dirty="0">
                <a:solidFill>
                  <a:schemeClr val="bg1"/>
                </a:solidFill>
              </a:rPr>
              <a:t>Autenticación y perfil: registro, acceso, renovación, cierre y actualización del usuario.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s-CO" sz="1800" dirty="0">
                <a:solidFill>
                  <a:schemeClr val="bg1"/>
                </a:solidFill>
              </a:rPr>
              <a:t>Cursos y actividades: catálogo, creación docente, borradores, publicación, finalización y eliminación consistente.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s-CO" sz="1800" dirty="0">
                <a:solidFill>
                  <a:schemeClr val="bg1"/>
                </a:solidFill>
              </a:rPr>
              <a:t>Evidencias: validación, almacenamiento persistente, metadatos y descarga autorizada.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s-CO" sz="1800" dirty="0">
                <a:solidFill>
                  <a:schemeClr val="bg1"/>
                </a:solidFill>
              </a:rPr>
              <a:t>Gamificación: puntos, nivel y catálogo de ocho medallas sin duplicación.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s-CO" sz="1800" dirty="0">
                <a:solidFill>
                  <a:schemeClr val="bg1"/>
                </a:solidFill>
              </a:rPr>
              <a:t>Comunidad: blog con publicaciones y comentarios, perfil y contacto persistente.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s-CO" sz="1800" dirty="0">
                <a:solidFill>
                  <a:schemeClr val="bg1"/>
                </a:solidFill>
              </a:rPr>
              <a:t>Reportes: progreso propio y reporte general docente con exportación PDF y XLSX.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s-CO" sz="1800" dirty="0">
                <a:solidFill>
                  <a:schemeClr val="bg1"/>
                </a:solidFill>
              </a:rPr>
              <a:t>Recursos, simulaciones y biblioteca: navegación y materiales de práctica dentro de la experiencia.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s-CO" sz="1800" dirty="0" err="1">
                <a:solidFill>
                  <a:schemeClr val="bg1"/>
                </a:solidFill>
              </a:rPr>
              <a:t>LeFoBot</a:t>
            </a:r>
            <a:r>
              <a:rPr lang="es-CO" sz="1800" dirty="0">
                <a:solidFill>
                  <a:schemeClr val="bg1"/>
                </a:solidFill>
              </a:rPr>
              <a:t>: adaptador de IA en </a:t>
            </a:r>
            <a:r>
              <a:rPr lang="es-CO" sz="1800" dirty="0" err="1">
                <a:solidFill>
                  <a:schemeClr val="bg1"/>
                </a:solidFill>
              </a:rPr>
              <a:t>backend</a:t>
            </a:r>
            <a:r>
              <a:rPr lang="es-CO" sz="1800" dirty="0">
                <a:solidFill>
                  <a:schemeClr val="bg1"/>
                </a:solidFill>
              </a:rPr>
              <a:t>, control de abuso, respuesta temporal y mensajes de error comprensibles.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s-CO" sz="1800" dirty="0">
                <a:solidFill>
                  <a:schemeClr val="bg1"/>
                </a:solidFill>
              </a:rPr>
              <a:t>Operación: migraciones, semillas demo, </a:t>
            </a:r>
            <a:r>
              <a:rPr lang="es-CO" sz="1800" dirty="0" err="1">
                <a:solidFill>
                  <a:schemeClr val="bg1"/>
                </a:solidFill>
              </a:rPr>
              <a:t>health</a:t>
            </a:r>
            <a:r>
              <a:rPr lang="es-CO" sz="1800" dirty="0">
                <a:solidFill>
                  <a:schemeClr val="bg1"/>
                </a:solidFill>
              </a:rPr>
              <a:t> </a:t>
            </a:r>
            <a:r>
              <a:rPr lang="es-CO" sz="1800" dirty="0" err="1">
                <a:solidFill>
                  <a:schemeClr val="bg1"/>
                </a:solidFill>
              </a:rPr>
              <a:t>checks</a:t>
            </a:r>
            <a:r>
              <a:rPr lang="es-CO" sz="1800" dirty="0">
                <a:solidFill>
                  <a:schemeClr val="bg1"/>
                </a:solidFill>
              </a:rPr>
              <a:t>, contenedores y automatización de calidad</a:t>
            </a:r>
            <a:r>
              <a:rPr lang="es-CO" sz="1800" dirty="0"/>
              <a:t>.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O" sz="1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09136228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7CE15-284C-50EB-7070-1892576E9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87;p2">
            <a:extLst>
              <a:ext uri="{FF2B5EF4-FFF2-40B4-BE49-F238E27FC236}">
                <a16:creationId xmlns:a16="http://schemas.microsoft.com/office/drawing/2014/main" id="{5D7305BA-A317-9F04-3D7C-52EA86069E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58151" y="365125"/>
            <a:ext cx="6339902" cy="1294200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algn="ctr"/>
            <a:r>
              <a:rPr lang="es-CO" b="1" dirty="0"/>
              <a:t>Evidencia del despliegue</a:t>
            </a:r>
            <a:br>
              <a:rPr lang="es-CO" b="1" dirty="0"/>
            </a:br>
            <a:br>
              <a:rPr lang="es-CO" b="1" dirty="0"/>
            </a:br>
            <a:endParaRPr dirty="0"/>
          </a:p>
        </p:txBody>
      </p:sp>
      <p:pic>
        <p:nvPicPr>
          <p:cNvPr id="2" name="Picture 3" descr="Captura del despliegue público de LeFodigital con formulario de acceso y cuentas de demostración de profesor y estudiante." title="Captura del despliegue público de LeFodigital con formulario de acceso y cuentas">
            <a:extLst>
              <a:ext uri="{FF2B5EF4-FFF2-40B4-BE49-F238E27FC236}">
                <a16:creationId xmlns:a16="http://schemas.microsoft.com/office/drawing/2014/main" id="{6F1C2BF6-7F33-A628-9569-3E237636D79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763"/>
          <a:stretch>
            <a:fillRect/>
          </a:stretch>
        </p:blipFill>
        <p:spPr bwMode="auto">
          <a:xfrm>
            <a:off x="2880185" y="1287528"/>
            <a:ext cx="6431630" cy="407105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013488447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Captura del panel docente de LeFodigital con módulos, perfil, novedades, cursos y actividades." title="Captura del panel docente de LeFodigital con módulos, perfil, novedades, cursos ">
            <a:extLst>
              <a:ext uri="{FF2B5EF4-FFF2-40B4-BE49-F238E27FC236}">
                <a16:creationId xmlns:a16="http://schemas.microsoft.com/office/drawing/2014/main" id="{B1E79E3B-D818-8DED-676B-1C70396508D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250"/>
          <a:stretch>
            <a:fillRect/>
          </a:stretch>
        </p:blipFill>
        <p:spPr bwMode="auto">
          <a:xfrm>
            <a:off x="3124835" y="450605"/>
            <a:ext cx="5942330" cy="338074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8E1F3497-FDDB-1A8C-729F-762D5218C763}"/>
              </a:ext>
            </a:extLst>
          </p:cNvPr>
          <p:cNvSpPr txBox="1"/>
          <p:nvPr/>
        </p:nvSpPr>
        <p:spPr>
          <a:xfrm>
            <a:off x="3490452" y="4493342"/>
            <a:ext cx="4621161" cy="4308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es-MX" dirty="0"/>
              <a:t>URL Sitio Web: </a:t>
            </a:r>
            <a:r>
              <a:rPr lang="es-MX" dirty="0">
                <a:hlinkClick r:id="rId3"/>
              </a:rPr>
              <a:t>https://lefodigital.keepitsimplexd.dev/</a:t>
            </a:r>
            <a:endParaRPr lang="es-MX" dirty="0"/>
          </a:p>
          <a:p>
            <a:endParaRPr kumimoji="0" lang="es-CO" sz="1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27265238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B446D-D702-56F3-6D64-E16DCDD7E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33;p4">
            <a:extLst>
              <a:ext uri="{FF2B5EF4-FFF2-40B4-BE49-F238E27FC236}">
                <a16:creationId xmlns:a16="http://schemas.microsoft.com/office/drawing/2014/main" id="{735E8865-E664-D72A-AC8A-C73EF0F652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79050" y="225608"/>
            <a:ext cx="6630001" cy="1063501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s-CO" b="1" dirty="0"/>
              <a:t>Repositorio público de GitHub</a:t>
            </a:r>
            <a:endParaRPr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EC0B778-A685-30F4-557D-D48852A5A5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651" y="1770450"/>
            <a:ext cx="7344697" cy="3509517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BA2BAA2-E7A1-FF5A-6E40-4DB52153E1D5}"/>
              </a:ext>
            </a:extLst>
          </p:cNvPr>
          <p:cNvSpPr txBox="1"/>
          <p:nvPr/>
        </p:nvSpPr>
        <p:spPr>
          <a:xfrm>
            <a:off x="3893574" y="5712542"/>
            <a:ext cx="4778478" cy="4308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es-MX" dirty="0"/>
              <a:t>URL del repositorio:</a:t>
            </a:r>
            <a:r>
              <a:rPr lang="es-CO" dirty="0">
                <a:hlinkClick r:id="rId3"/>
              </a:rPr>
              <a:t> https://github.com/doItBinary/LeFodigital</a:t>
            </a:r>
            <a:endParaRPr lang="es-CO" dirty="0"/>
          </a:p>
          <a:p>
            <a:endParaRPr kumimoji="0" lang="es-CO" sz="1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98135990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1;p21"/>
          <p:cNvSpPr txBox="1">
            <a:spLocks noGrp="1"/>
          </p:cNvSpPr>
          <p:nvPr>
            <p:ph type="title"/>
          </p:nvPr>
        </p:nvSpPr>
        <p:spPr>
          <a:xfrm>
            <a:off x="3692261" y="2295486"/>
            <a:ext cx="4807501" cy="1783801"/>
          </a:xfrm>
          <a:prstGeom prst="rect">
            <a:avLst/>
          </a:prstGeom>
        </p:spPr>
        <p:txBody>
          <a:bodyPr/>
          <a:lstStyle/>
          <a:p>
            <a:r>
              <a:rPr dirty="0"/>
              <a:t>Gracias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Tema UNAD 1">
  <a:themeElements>
    <a:clrScheme name="Tema UNAD 1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D5D5D5"/>
      </a:accent1>
      <a:accent2>
        <a:srgbClr val="005681"/>
      </a:accent2>
      <a:accent3>
        <a:srgbClr val="F4BE00"/>
      </a:accent3>
      <a:accent4>
        <a:srgbClr val="EE7203"/>
      </a:accent4>
      <a:accent5>
        <a:srgbClr val="00739B"/>
      </a:accent5>
      <a:accent6>
        <a:srgbClr val="74189B"/>
      </a:accent6>
      <a:hlink>
        <a:srgbClr val="0000FF"/>
      </a:hlink>
      <a:folHlink>
        <a:srgbClr val="FF00FF"/>
      </a:folHlink>
    </a:clrScheme>
    <a:fontScheme name="Tema UNAD 1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Tema UNAD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Tema UNAD 1">
  <a:themeElements>
    <a:clrScheme name="Tema UNAD 1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D5D5D5"/>
      </a:accent1>
      <a:accent2>
        <a:srgbClr val="005681"/>
      </a:accent2>
      <a:accent3>
        <a:srgbClr val="F4BE00"/>
      </a:accent3>
      <a:accent4>
        <a:srgbClr val="EE7203"/>
      </a:accent4>
      <a:accent5>
        <a:srgbClr val="00739B"/>
      </a:accent5>
      <a:accent6>
        <a:srgbClr val="74189B"/>
      </a:accent6>
      <a:hlink>
        <a:srgbClr val="0000FF"/>
      </a:hlink>
      <a:folHlink>
        <a:srgbClr val="FF00FF"/>
      </a:folHlink>
    </a:clrScheme>
    <a:fontScheme name="Tema UNAD 1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Tema UNAD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928</Words>
  <Application>Microsoft Office PowerPoint</Application>
  <PresentationFormat>Panorámica</PresentationFormat>
  <Paragraphs>48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9" baseType="lpstr">
      <vt:lpstr>Arial</vt:lpstr>
      <vt:lpstr>Montserrat Bold</vt:lpstr>
      <vt:lpstr>Montserrat Regular</vt:lpstr>
      <vt:lpstr>Montserrat SemiBold</vt:lpstr>
      <vt:lpstr>Roboto Bold</vt:lpstr>
      <vt:lpstr>Times New Roman</vt:lpstr>
      <vt:lpstr>Wingdings</vt:lpstr>
      <vt:lpstr>Tema UNAD 1</vt:lpstr>
      <vt:lpstr>Diseño e implementación de LeFodigital para fortalecer competencias digitales básicas en estudiantes de instituciones educativas agropecuarias de La Paz, Cesar </vt:lpstr>
      <vt:lpstr>Introducción </vt:lpstr>
      <vt:lpstr>Líneas de investigación y grupos de investigación </vt:lpstr>
      <vt:lpstr>Descripción del problema </vt:lpstr>
      <vt:lpstr>Justificación</vt:lpstr>
      <vt:lpstr>Objetivos</vt:lpstr>
      <vt:lpstr>Módulos implementados</vt:lpstr>
      <vt:lpstr>Evidencia del despliegue  </vt:lpstr>
      <vt:lpstr>Presentación de PowerPoint</vt:lpstr>
      <vt:lpstr>Repositorio público de GitHub</vt:lpstr>
      <vt:lpstr>Gracias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Daniel Andres Guzman Arevalo</dc:creator>
  <cp:lastModifiedBy>LEONARDO FLORES ORTEGA</cp:lastModifiedBy>
  <cp:revision>5</cp:revision>
  <dcterms:modified xsi:type="dcterms:W3CDTF">2026-08-02T21:34:49Z</dcterms:modified>
</cp:coreProperties>
</file>